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0152" cy="4663440"/>
          </a:xfrm>
          <a:prstGeom prst="round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9439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8E04"/>
                </a:solidFill>
                <a:latin typeface="Calibri"/>
              </a:defRPr>
            </a:pPr>
            <a:r>
              <a:t>CLINICAL MACHINE LEARNING RESEARCH</a:t>
            </a:r>
          </a:p>
          <a:p>
            <a:pPr>
              <a:spcBef>
                <a:spcPts val="1200"/>
              </a:spcBef>
              <a:defRPr sz="3800" b="1">
                <a:solidFill>
                  <a:srgbClr val="FFFFFF"/>
                </a:solidFill>
                <a:latin typeface="Cambria"/>
              </a:defRPr>
            </a:pPr>
            <a:r>
              <a:t>Optimized, Explainable &amp; Reliable</a:t>
            </a:r>
            <a:br/>
            <a:r>
              <a:t>Ensemble Framework</a:t>
            </a:r>
          </a:p>
          <a:p>
            <a:pPr>
              <a:spcBef>
                <a:spcPts val="1600"/>
              </a:spcBef>
              <a:defRPr sz="1500">
                <a:solidFill>
                  <a:srgbClr val="F7FAFC"/>
                </a:solidFill>
                <a:latin typeface="Calibri"/>
              </a:defRPr>
            </a:pPr>
            <a:r>
              <a:t>Extending Mienye &amp; Jere (2024) with rigorous reliability engineering, multi-site fairness analysis, genuine cross-population validation, and layered explainability.</a:t>
            </a:r>
          </a:p>
          <a:p>
            <a:pPr>
              <a:spcBef>
                <a:spcPts val="2800"/>
              </a:spcBef>
              <a:defRPr sz="1200" b="1">
                <a:solidFill>
                  <a:srgbClr val="1C7293"/>
                </a:solidFill>
                <a:latin typeface="Calibri"/>
              </a:defRPr>
            </a:pPr>
            <a:r>
              <a:t>BTech Final Year Project — Research &amp; Engineering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C7293"/>
                </a:solidFill>
                <a:latin typeface="Calibri"/>
              </a:defRPr>
            </a:pPr>
            <a:r>
              <a:t>OVERVIEW</a:t>
            </a:r>
          </a:p>
          <a:p>
            <a:pPr>
              <a:spcBef>
                <a:spcPts val="400"/>
              </a:spcBef>
              <a:defRPr sz="2600" b="1">
                <a:solidFill>
                  <a:srgbClr val="1F2937"/>
                </a:solidFill>
                <a:latin typeface="Cambria"/>
              </a:defRPr>
            </a:pPr>
            <a:r>
              <a:t>What We'll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2/17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828800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1051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2834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Cambria"/>
              </a:defRPr>
            </a:pPr>
            <a:r>
              <a:t>1. Motivation &amp; Reference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Why 90%+ accuracy alone fails clinical trust &amp; our foundation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54480"/>
            <a:ext cx="33832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17720" y="1828800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81051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77440"/>
            <a:ext cx="2834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Cambria"/>
              </a:defRPr>
            </a:pPr>
            <a:r>
              <a:t>2. Datasets &amp; Cohorts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Combined 920-patient 4-site cohort &amp; Framingham validation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554480"/>
            <a:ext cx="33832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0" y="1828800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1051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77440"/>
            <a:ext cx="2834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Cambria"/>
              </a:defRPr>
            </a:pPr>
            <a:r>
              <a:t>3. Methodology Pipeline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Optuna tuning, soft-voting ensemble &amp; leak-free nested CV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33832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4114800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09651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663440"/>
            <a:ext cx="2834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Cambria"/>
              </a:defRPr>
            </a:pPr>
            <a:r>
              <a:t>4. Our Contributions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Nested CV, calibration, fairness, agreement, external testing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840480"/>
            <a:ext cx="33832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17720" y="4114800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409651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663440"/>
            <a:ext cx="2834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Cambria"/>
              </a:defRPr>
            </a:pPr>
            <a:r>
              <a:t>5. Methodological Rigor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3 real bugs caught and fixed during rigorous pipeline review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80" y="3840480"/>
            <a:ext cx="33832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29600" y="4114800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409651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663440"/>
            <a:ext cx="2834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Cambria"/>
              </a:defRPr>
            </a:pPr>
            <a:r>
              <a:t>6. Results &amp; Conclusion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Key findings, generalization performance, and deployed deliverables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C7293"/>
                </a:solidFill>
                <a:latin typeface="Calibri"/>
              </a:defRPr>
            </a:pPr>
            <a:r>
              <a:t>CLINICAL MACHINE LEARNING</a:t>
            </a:r>
          </a:p>
          <a:p>
            <a:pPr>
              <a:spcBef>
                <a:spcPts val="400"/>
              </a:spcBef>
              <a:defRPr sz="2600" b="1">
                <a:solidFill>
                  <a:srgbClr val="1F2937"/>
                </a:solidFill>
                <a:latin typeface="Cambria"/>
              </a:defRPr>
            </a:pPr>
            <a:r>
              <a:t>Why This Project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3/17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5A82"/>
                </a:solidFill>
                <a:latin typeface="Cambria"/>
              </a:defRPr>
            </a:pPr>
            <a:r>
              <a:t>Beyond Standard Accuracy</a:t>
            </a:r>
          </a:p>
          <a:p>
            <a:pPr>
              <a:spcBef>
                <a:spcPts val="1200"/>
              </a:spcBef>
              <a:defRPr sz="1400">
                <a:solidFill>
                  <a:srgbClr val="1F2937"/>
                </a:solidFill>
                <a:latin typeface="Calibri"/>
              </a:defRPr>
            </a:pPr>
            <a:r>
              <a:t>In clinical medicine, high accuracy alone is insufficient. A model reporting 90%+ accuracy can still fail catastrophically if its predictions are overconfident, biased against demographic subgroups, or unable to generalize to new hospital populations.</a:t>
            </a:r>
          </a:p>
          <a:p>
            <a:pPr>
              <a:spcBef>
                <a:spcPts val="1200"/>
              </a:spcBef>
              <a:defRPr sz="1400">
                <a:solidFill>
                  <a:srgbClr val="64748B"/>
                </a:solidFill>
                <a:latin typeface="Calibri"/>
              </a:defRPr>
            </a:pPr>
            <a:r>
              <a:t>This project asks what else must be true for a heart disease prediction model to be genuinely deployable and reliable in clinical practice.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54480"/>
            <a:ext cx="53035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09360" y="1737360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71907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691639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Cambria"/>
              </a:defRPr>
            </a:pPr>
            <a:r>
              <a:t>Is Its Confidence Honest?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Probability Calibration: Ensuring 80% risk really means 8 out of 10 patients have disease.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697480"/>
            <a:ext cx="53035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09360" y="2880360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86207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⚖️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834640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Cambria"/>
              </a:defRPr>
            </a:pPr>
            <a:r>
              <a:t>Is It Fair Across Patients?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Subgroup Fairness: Evaluating performance across age, sex, and hospital site cohorts.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840480"/>
            <a:ext cx="53035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09360" y="4023360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00507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977640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Cambria"/>
              </a:defRPr>
            </a:pPr>
            <a:r>
              <a:t>Does It Work Beyond One Hospital?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External Validation: Testing generalization on unseen multi-center populations.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983480"/>
            <a:ext cx="53035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9360" y="5166360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514807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120640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Cambria"/>
              </a:defRPr>
            </a:pPr>
            <a:r>
              <a:t>Can We Explain Its Reasoning?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Layered Explainability: SHAP, LIME, and counterfactual what-if reasoning.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C7293"/>
                </a:solidFill>
                <a:latin typeface="Calibri"/>
              </a:defRPr>
            </a:pPr>
            <a:r>
              <a:t>LITERATURE BASE</a:t>
            </a:r>
          </a:p>
          <a:p>
            <a:pPr>
              <a:spcBef>
                <a:spcPts val="400"/>
              </a:spcBef>
              <a:defRPr sz="2600" b="1">
                <a:solidFill>
                  <a:srgbClr val="1F2937"/>
                </a:solidFill>
                <a:latin typeface="Cambria"/>
              </a:defRPr>
            </a:pPr>
            <a:r>
              <a:t>Our Reference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4/17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8E04"/>
                </a:solidFill>
              </a:defRPr>
            </a:pPr>
            <a:r>
              <a:t>REFERENCE PAPER FOUNDATION</a:t>
            </a:r>
          </a:p>
          <a:p>
            <a:pPr>
              <a:spcBef>
                <a:spcPts val="800"/>
              </a:spcBef>
              <a:defRPr sz="1800" b="1">
                <a:solidFill>
                  <a:srgbClr val="FFFFFF"/>
                </a:solidFill>
                <a:latin typeface="Cambria"/>
              </a:defRPr>
            </a:pPr>
            <a:r>
              <a:t>Optimized Ensemble Learning Approach with Explainable AI for Improved Heart Disease Prediction</a:t>
            </a:r>
          </a:p>
          <a:p>
            <a:pPr>
              <a:spcBef>
                <a:spcPts val="1200"/>
              </a:spcBef>
              <a:defRPr sz="1300">
                <a:solidFill>
                  <a:srgbClr val="F7FAFC"/>
                </a:solidFill>
                <a:latin typeface="Calibri"/>
              </a:defRPr>
            </a:pPr>
            <a:r>
              <a:t>Authors: Ibomoiye Domor Mienye &amp; Nobert Jere</a:t>
            </a:r>
            <a:br/>
            <a:r>
              <a:t>Journal: Information (MDPI), July 2024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Method Summary: Combines Random Forest, XGBoost, and AdaBoost into an ensemble with Bayesian (Optuna) hyperparameter tuning and SHAP feature explanations, evaluated on Cleveland and Framingham datasets.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54480"/>
            <a:ext cx="53035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Cambria"/>
              </a:defRPr>
            </a:pPr>
            <a:r>
              <a:t>The Gaps We Address</a:t>
            </a:r>
          </a:p>
          <a:p>
            <a:pPr>
              <a:spcBef>
                <a:spcPts val="1000"/>
              </a:spcBef>
              <a:defRPr sz="1200">
                <a:solidFill>
                  <a:srgbClr val="1F2937"/>
                </a:solidFill>
                <a:latin typeface="Calibri"/>
              </a:defRPr>
            </a:pPr>
            <a:r>
              <a:t>❌  No nested cross-validation (vulnerable to hyperparameter leak)</a:t>
            </a:r>
          </a:p>
          <a:p>
            <a:pPr>
              <a:spcBef>
                <a:spcPts val="1000"/>
              </a:spcBef>
              <a:defRPr sz="1200">
                <a:solidFill>
                  <a:srgbClr val="1F2937"/>
                </a:solidFill>
                <a:latin typeface="Calibri"/>
              </a:defRPr>
            </a:pPr>
            <a:r>
              <a:t>❌  No probability calibration assessment (Brier / ECE)</a:t>
            </a:r>
          </a:p>
          <a:p>
            <a:pPr>
              <a:spcBef>
                <a:spcPts val="1000"/>
              </a:spcBef>
              <a:defRPr sz="1200">
                <a:solidFill>
                  <a:srgbClr val="1F2937"/>
                </a:solidFill>
                <a:latin typeface="Calibri"/>
              </a:defRPr>
            </a:pPr>
            <a:r>
              <a:t>❌  No subgroup or multi-site fairness breakdown</a:t>
            </a:r>
          </a:p>
          <a:p>
            <a:pPr>
              <a:spcBef>
                <a:spcPts val="1000"/>
              </a:spcBef>
              <a:defRPr sz="1200">
                <a:solidFill>
                  <a:srgbClr val="1F2937"/>
                </a:solidFill>
                <a:latin typeface="Calibri"/>
              </a:defRPr>
            </a:pPr>
            <a:r>
              <a:t>❌  Single-hospital training data (Cleveland N=303 only)</a:t>
            </a:r>
          </a:p>
          <a:p>
            <a:pPr>
              <a:spcBef>
                <a:spcPts val="1000"/>
              </a:spcBef>
              <a:defRPr sz="1200">
                <a:solidFill>
                  <a:srgbClr val="1F2937"/>
                </a:solidFill>
                <a:latin typeface="Calibri"/>
              </a:defRPr>
            </a:pPr>
            <a:r>
              <a:t>❌  No genuinely external population generalizability test</a:t>
            </a:r>
          </a:p>
          <a:p>
            <a:pPr>
              <a:spcBef>
                <a:spcPts val="1000"/>
              </a:spcBef>
              <a:defRPr sz="1200">
                <a:solidFill>
                  <a:srgbClr val="1F2937"/>
                </a:solidFill>
                <a:latin typeface="Calibri"/>
              </a:defRPr>
            </a:pPr>
            <a:r>
              <a:t>❌  No explanation-stability or model disagreement checking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C7293"/>
                </a:solidFill>
                <a:latin typeface="Calibri"/>
              </a:defRPr>
            </a:pPr>
            <a:r>
              <a:t>DATA ARCHITECTURE</a:t>
            </a:r>
          </a:p>
          <a:p>
            <a:pPr>
              <a:spcBef>
                <a:spcPts val="400"/>
              </a:spcBef>
              <a:defRPr sz="2600" b="1">
                <a:solidFill>
                  <a:srgbClr val="1F2937"/>
                </a:solidFill>
                <a:latin typeface="Cambria"/>
              </a:defRPr>
            </a:pPr>
            <a:r>
              <a:t>Two Cohorts: Train on Many Sites, Validate on a New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5/17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828800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1051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8308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7293"/>
                </a:solidFill>
              </a:defRPr>
            </a:pPr>
            <a:r>
              <a:t>TRAINING COHORT</a:t>
            </a:r>
          </a:p>
          <a:p>
            <a:pPr>
              <a:spcBef>
                <a:spcPts val="200"/>
              </a:spcBef>
              <a:defRPr sz="3600" b="1">
                <a:solidFill>
                  <a:srgbClr val="065A82"/>
                </a:solidFill>
                <a:latin typeface="Cambria"/>
              </a:defRPr>
            </a:pPr>
            <a:r>
              <a:t>920 Patients</a:t>
            </a:r>
          </a:p>
          <a:p>
            <a:pPr>
              <a:spcBef>
                <a:spcPts val="600"/>
              </a:spcBef>
              <a:defRPr sz="1400" b="1">
                <a:solidFill>
                  <a:srgbClr val="1F2937"/>
                </a:solidFill>
              </a:defRPr>
            </a:pPr>
            <a:r>
              <a:t>Combined 4-Site UCI Heart Disease Dataset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• Cleveland, USA: N = 303</a:t>
            </a:r>
            <a:br/>
            <a:r>
              <a:t>• Hungarian Institute: N = 294</a:t>
            </a:r>
            <a:br/>
            <a:r>
              <a:t>• Switzerland: N = 123</a:t>
            </a:r>
            <a:br/>
            <a:r>
              <a:t>• VA Long Beach, CA: N = 200</a:t>
            </a:r>
            <a:br/>
            <a:br/>
            <a:r>
              <a:t>13 clinical features. Source: UCI Repository.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54480"/>
            <a:ext cx="53035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1828800"/>
            <a:ext cx="411480" cy="411480"/>
          </a:xfrm>
          <a:prstGeom prst="ellipse">
            <a:avLst/>
          </a:prstGeom>
          <a:solidFill>
            <a:srgbClr val="D98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1051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78308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8E04"/>
                </a:solidFill>
              </a:defRPr>
            </a:pPr>
            <a:r>
              <a:t>EXTERNAL VALIDATION COHORT</a:t>
            </a:r>
          </a:p>
          <a:p>
            <a:pPr>
              <a:spcBef>
                <a:spcPts val="200"/>
              </a:spcBef>
              <a:defRPr sz="3600" b="1">
                <a:solidFill>
                  <a:srgbClr val="1F2937"/>
                </a:solidFill>
                <a:latin typeface="Cambria"/>
              </a:defRPr>
            </a:pPr>
            <a:r>
              <a:t>4,240 Patients</a:t>
            </a:r>
          </a:p>
          <a:p>
            <a:pPr>
              <a:spcBef>
                <a:spcPts val="600"/>
              </a:spcBef>
              <a:defRPr sz="1400" b="1">
                <a:solidFill>
                  <a:srgbClr val="1F2937"/>
                </a:solidFill>
              </a:defRPr>
            </a:pPr>
            <a:r>
              <a:t>Framingham Heart Study Cohort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A completely independent epidemiological population cohort, never seen during model training or hyperparameter tuning.</a:t>
            </a:r>
            <a:br/>
            <a:br/>
            <a:r>
              <a:t>Harmonized onto 5 common clinical features. Source: NHLBI Framingham Study.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C7293"/>
                </a:solidFill>
                <a:latin typeface="Calibri"/>
              </a:defRPr>
            </a:pPr>
            <a:r>
              <a:t>SYSTEM ARCHITECTURE</a:t>
            </a:r>
          </a:p>
          <a:p>
            <a:pPr>
              <a:spcBef>
                <a:spcPts val="400"/>
              </a:spcBef>
              <a:defRPr sz="2600" b="1">
                <a:solidFill>
                  <a:srgbClr val="1F2937"/>
                </a:solidFill>
                <a:latin typeface="Cambria"/>
              </a:defRPr>
            </a:pPr>
            <a:r>
              <a:t>End-to-End Modeling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6/17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6916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508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7293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300" b="1">
                <a:solidFill>
                  <a:srgbClr val="1F2937"/>
                </a:solidFill>
                <a:latin typeface="Cambria"/>
              </a:defRPr>
            </a:pPr>
            <a:r>
              <a:t>1. Preprocessing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Clean, impute median/mode, scale &amp; encode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42032" y="1645920"/>
            <a:ext cx="16916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33472" y="1828800"/>
            <a:ext cx="1508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7293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300" b="1">
                <a:solidFill>
                  <a:srgbClr val="1F2937"/>
                </a:solidFill>
                <a:latin typeface="Cambria"/>
              </a:defRPr>
            </a:pPr>
            <a:r>
              <a:t>2. Base Models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Random Forest, XGBoost, AdaBoost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645920"/>
            <a:ext cx="16916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3983" y="1828800"/>
            <a:ext cx="1508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7293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300" b="1">
                <a:solidFill>
                  <a:srgbClr val="1F2937"/>
                </a:solidFill>
                <a:latin typeface="Cambria"/>
              </a:defRPr>
            </a:pPr>
            <a:r>
              <a:t>3. Optuna Tuning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Bayesian hyperparameter 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5" y="1645920"/>
            <a:ext cx="16916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5" y="1828800"/>
            <a:ext cx="1508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7293"/>
                </a:solidFill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sz="1300" b="1">
                <a:solidFill>
                  <a:srgbClr val="1F2937"/>
                </a:solidFill>
                <a:latin typeface="Cambria"/>
              </a:defRPr>
            </a:pPr>
            <a:r>
              <a:t>4. Soft Ensemble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Weighted vote across 3 models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8" y="1645920"/>
            <a:ext cx="16916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5008" y="1828800"/>
            <a:ext cx="1508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7293"/>
                </a:solidFill>
              </a:defRPr>
            </a:pPr>
            <a:r>
              <a:t>05</a:t>
            </a:r>
          </a:p>
          <a:p>
            <a:pPr>
              <a:spcBef>
                <a:spcPts val="800"/>
              </a:spcBef>
              <a:defRPr sz="1300" b="1">
                <a:solidFill>
                  <a:srgbClr val="1F2937"/>
                </a:solidFill>
                <a:latin typeface="Cambria"/>
              </a:defRPr>
            </a:pPr>
            <a:r>
              <a:t>5. Nested CV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Leak-free 5-outer / 3-inner CV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1645920"/>
            <a:ext cx="16916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1828800"/>
            <a:ext cx="1508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7293"/>
                </a:solidFill>
              </a:defRPr>
            </a:pPr>
            <a:r>
              <a:t>06</a:t>
            </a:r>
          </a:p>
          <a:p>
            <a:pPr>
              <a:spcBef>
                <a:spcPts val="800"/>
              </a:spcBef>
              <a:defRPr sz="1300" b="1">
                <a:solidFill>
                  <a:srgbClr val="1F2937"/>
                </a:solidFill>
                <a:latin typeface="Cambria"/>
              </a:defRPr>
            </a:pPr>
            <a:r>
              <a:t>6. Explainability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SHAP, LIME &amp; counterfactuals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94960"/>
            <a:ext cx="10725912" cy="82296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4864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🔒 Leak-Free Evaluation: All preprocessing and Optuna tuning take place strictly inside inner CV folds — hyperparameter selection never touches the held-out test fold.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E04"/>
                </a:solidFill>
                <a:latin typeface="Calibri"/>
              </a:defRPr>
            </a:pPr>
            <a:r>
              <a:t>CORE CONTRIBUTIONS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  <a:latin typeface="Cambria"/>
              </a:defRPr>
            </a:pPr>
            <a:r>
              <a:t>What We Added Beyond the Reference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C7293"/>
                </a:solidFill>
                <a:latin typeface="Calibri"/>
              </a:defRPr>
            </a:pPr>
            <a:r>
              <a:t>7/17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1371600"/>
          </a:xfrm>
          <a:prstGeom prst="roundRect">
            <a:avLst/>
          </a:prstGeom>
          <a:solidFill>
            <a:srgbClr val="21295C"/>
          </a:solidFill>
          <a:ln w="190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737360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691639"/>
            <a:ext cx="2606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mbria"/>
              </a:defRPr>
            </a:pPr>
            <a:r>
              <a:t>Leak-Free Nested CV</a:t>
            </a:r>
          </a:p>
          <a:p>
            <a:pPr>
              <a:spcBef>
                <a:spcPts val="300"/>
              </a:spcBef>
              <a:defRPr sz="1050">
                <a:solidFill>
                  <a:srgbClr val="F7FAFC"/>
                </a:solidFill>
              </a:defRPr>
            </a:pPr>
            <a:r>
              <a:t>5-fold outer / 3-fold inner cross-validation preventing optimistic bias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54480"/>
            <a:ext cx="3383280" cy="1371600"/>
          </a:xfrm>
          <a:prstGeom prst="roundRect">
            <a:avLst/>
          </a:prstGeom>
          <a:solidFill>
            <a:srgbClr val="21295C"/>
          </a:solidFill>
          <a:ln w="190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26280" y="1737360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1907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691639"/>
            <a:ext cx="2606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mbria"/>
              </a:defRPr>
            </a:pPr>
            <a:r>
              <a:t>Probability Calibration</a:t>
            </a:r>
          </a:p>
          <a:p>
            <a:pPr>
              <a:spcBef>
                <a:spcPts val="300"/>
              </a:spcBef>
              <a:defRPr sz="1050">
                <a:solidFill>
                  <a:srgbClr val="F7FAFC"/>
                </a:solidFill>
              </a:defRPr>
            </a:pPr>
            <a:r>
              <a:t>Platt Scaling &amp; Isotonic Regression to ensure honest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554480"/>
            <a:ext cx="3383280" cy="1371600"/>
          </a:xfrm>
          <a:prstGeom prst="roundRect">
            <a:avLst/>
          </a:prstGeom>
          <a:solidFill>
            <a:srgbClr val="21295C"/>
          </a:solidFill>
          <a:ln w="190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38160" y="1737360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71907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⚖️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1691639"/>
            <a:ext cx="2606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mbria"/>
              </a:defRPr>
            </a:pPr>
            <a:r>
              <a:t>Multi-Site Fairness</a:t>
            </a:r>
          </a:p>
          <a:p>
            <a:pPr>
              <a:spcBef>
                <a:spcPts val="300"/>
              </a:spcBef>
              <a:defRPr sz="1050">
                <a:solidFill>
                  <a:srgbClr val="F7FAFC"/>
                </a:solidFill>
              </a:defRPr>
            </a:pPr>
            <a:r>
              <a:t>Disaggregated subgroup evaluation across sex, age, and 4 hospital sites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063239"/>
            <a:ext cx="3383280" cy="1371600"/>
          </a:xfrm>
          <a:prstGeom prst="roundRect">
            <a:avLst/>
          </a:prstGeom>
          <a:solidFill>
            <a:srgbClr val="D98E04"/>
          </a:solidFill>
          <a:ln w="19050">
            <a:solidFill>
              <a:srgbClr val="D98E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3246120"/>
            <a:ext cx="411480" cy="41148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22783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200399"/>
            <a:ext cx="2606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295C"/>
                </a:solidFill>
                <a:latin typeface="Cambria"/>
              </a:defRPr>
            </a:pPr>
            <a:r>
              <a:t>Model Agreement Scoring</a:t>
            </a:r>
          </a:p>
          <a:p>
            <a:pPr>
              <a:spcBef>
                <a:spcPts val="300"/>
              </a:spcBef>
              <a:defRPr sz="1050">
                <a:solidFill>
                  <a:srgbClr val="21295C"/>
                </a:solidFill>
              </a:defRPr>
            </a:pPr>
            <a:r>
              <a:t>★ Original Contribution: Per-patient consensus &amp; uncertainty flagging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063239"/>
            <a:ext cx="3383280" cy="1371600"/>
          </a:xfrm>
          <a:prstGeom prst="roundRect">
            <a:avLst/>
          </a:prstGeom>
          <a:solidFill>
            <a:srgbClr val="21295C"/>
          </a:solidFill>
          <a:ln w="190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26280" y="3246120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22783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200399"/>
            <a:ext cx="2606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mbria"/>
              </a:defRPr>
            </a:pPr>
            <a:r>
              <a:t>Cross-Dataset Validation</a:t>
            </a:r>
          </a:p>
          <a:p>
            <a:pPr>
              <a:spcBef>
                <a:spcPts val="300"/>
              </a:spcBef>
              <a:defRPr sz="1050">
                <a:solidFill>
                  <a:srgbClr val="F7FAFC"/>
                </a:solidFill>
              </a:defRPr>
            </a:pPr>
            <a:r>
              <a:t>External generalizability testing on unseen Framingham cohort (N=4,240)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80" y="3063239"/>
            <a:ext cx="3383280" cy="1371600"/>
          </a:xfrm>
          <a:prstGeom prst="roundRect">
            <a:avLst/>
          </a:prstGeom>
          <a:solidFill>
            <a:srgbClr val="21295C"/>
          </a:solidFill>
          <a:ln w="190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38160" y="3246120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322783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3200399"/>
            <a:ext cx="2606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mbria"/>
              </a:defRPr>
            </a:pPr>
            <a:r>
              <a:t>Explanation Depth</a:t>
            </a:r>
          </a:p>
          <a:p>
            <a:pPr>
              <a:spcBef>
                <a:spcPts val="300"/>
              </a:spcBef>
              <a:defRPr sz="1050">
                <a:solidFill>
                  <a:srgbClr val="F7FAFC"/>
                </a:solidFill>
              </a:defRPr>
            </a:pPr>
            <a:r>
              <a:t>LIME comparison, counterfactual what-ifs, and SHAP stability scoring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3400" y="4572000"/>
            <a:ext cx="3474720" cy="1371600"/>
          </a:xfrm>
          <a:prstGeom prst="roundRect">
            <a:avLst/>
          </a:prstGeom>
          <a:solidFill>
            <a:srgbClr val="21295C"/>
          </a:solidFill>
          <a:ln w="190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26280" y="4754880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473659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4709160"/>
            <a:ext cx="26974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mbria"/>
              </a:defRPr>
            </a:pPr>
            <a:r>
              <a:t>Deployed Web App</a:t>
            </a:r>
          </a:p>
          <a:p>
            <a:pPr>
              <a:spcBef>
                <a:spcPts val="300"/>
              </a:spcBef>
              <a:defRPr sz="1050">
                <a:solidFill>
                  <a:srgbClr val="F7FAFC"/>
                </a:solidFill>
              </a:defRPr>
            </a:pPr>
            <a:r>
              <a:t>Interactive SaaS clinical decision support interface on Streamlit Cloud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21792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8E04"/>
                </a:solidFill>
              </a:defRPr>
            </a:pPr>
            <a:r>
              <a:t>★ Original contribution — not present in the reference paper or related 2025 literature.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C7293"/>
                </a:solidFill>
                <a:latin typeface="Calibri"/>
              </a:defRPr>
            </a:pPr>
            <a:r>
              <a:t>RELIABILITY ENGINEERING</a:t>
            </a:r>
          </a:p>
          <a:p>
            <a:pPr>
              <a:spcBef>
                <a:spcPts val="400"/>
              </a:spcBef>
              <a:defRPr sz="2600" b="1">
                <a:solidFill>
                  <a:srgbClr val="1F2937"/>
                </a:solidFill>
                <a:latin typeface="Cambria"/>
              </a:defRPr>
            </a:pPr>
            <a:r>
              <a:t>Honest Evaluation &amp; Trustworthy Probabilities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8/17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5A82"/>
                </a:solidFill>
                <a:latin typeface="Cambria"/>
              </a:defRPr>
            </a:pPr>
            <a:r>
              <a:t>Methodological Framework</a:t>
            </a:r>
          </a:p>
          <a:p>
            <a:pPr>
              <a:spcBef>
                <a:spcPts val="1000"/>
              </a:spcBef>
              <a:defRPr sz="1400" b="1">
                <a:solidFill>
                  <a:srgbClr val="1F2937"/>
                </a:solidFill>
              </a:defRPr>
            </a:pPr>
            <a:r>
              <a:t>1. Nested Cross-Validation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Hyperparameter optimization happens strictly inside outer training folds, never touching held-out test folds. Prevents optimistic evaluation bias.</a:t>
            </a:r>
          </a:p>
          <a:p>
            <a:pPr>
              <a:spcBef>
                <a:spcPts val="1400"/>
              </a:spcBef>
              <a:defRPr sz="1400" b="1">
                <a:solidFill>
                  <a:srgbClr val="1F2937"/>
                </a:solidFill>
              </a:defRPr>
            </a:pPr>
            <a:r>
              <a:t>2. Probability Calibration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Evaluates Expected Calibration Error (ECE) and Brier Score Loss. Ensures a predicted 80% risk translates to 80% true disease incidence.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54480"/>
            <a:ext cx="5303520" cy="4572000"/>
          </a:xfrm>
          <a:prstGeom prst="round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8E04"/>
                </a:solidFill>
              </a:defRPr>
            </a:pPr>
            <a:r>
              <a:t>🐛 A BUG WE FOUND &amp; FIXED</a:t>
            </a:r>
          </a:p>
          <a:p>
            <a:pPr>
              <a:spcBef>
                <a:spcPts val="600"/>
              </a:spcBef>
              <a:defRPr sz="2000" b="1">
                <a:solidFill>
                  <a:srgbClr val="FFFFFF"/>
                </a:solidFill>
                <a:latin typeface="Cambria"/>
              </a:defRPr>
            </a:pPr>
            <a:r>
              <a:t>Calibration Leakage</a:t>
            </a:r>
          </a:p>
          <a:p>
            <a:pPr>
              <a:spcBef>
                <a:spcPts val="1000"/>
              </a:spcBef>
              <a:defRPr sz="1300">
                <a:solidFill>
                  <a:srgbClr val="F7FAFC"/>
                </a:solidFill>
              </a:defRPr>
            </a:pPr>
            <a:r>
              <a:t>Calibrating models directly on their own training set predictions caused severe in-sample probability distortion, making out-of-fold calibration worse instead of better.</a:t>
            </a:r>
          </a:p>
          <a:p>
            <a:pPr>
              <a:spcBef>
                <a:spcPts val="1200"/>
              </a:spcBef>
              <a:defRPr sz="1300" b="1">
                <a:solidFill>
                  <a:srgbClr val="D98E04"/>
                </a:solidFill>
              </a:defRPr>
            </a:pPr>
            <a:r>
              <a:t>FIX: Applied a 75/25 model-fit / calibration-fit out-of-sample split within outer training folds.</a:t>
            </a:r>
          </a:p>
          <a:p>
            <a:pPr>
              <a:spcBef>
                <a:spcPts val="1200"/>
              </a:spcBef>
              <a:defRPr sz="1400" b="1">
                <a:solidFill>
                  <a:srgbClr val="FFFFFF"/>
                </a:solidFill>
              </a:defRPr>
            </a:pPr>
            <a:r>
              <a:t>• AdaBoost ECE: 0.181 → 0.050 (3.6× Improvement)</a:t>
            </a:r>
            <a:br/>
            <a:r>
              <a:t>• Soft Ensemble ECE: 0.102 → 0.069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C7293"/>
                </a:solidFill>
                <a:latin typeface="Calibri"/>
              </a:defRPr>
            </a:pPr>
            <a:r>
              <a:t>FAIRNESS &amp; SUBGROUP ANALYSIS</a:t>
            </a:r>
          </a:p>
          <a:p>
            <a:pPr>
              <a:spcBef>
                <a:spcPts val="400"/>
              </a:spcBef>
              <a:defRPr sz="2600" b="1">
                <a:solidFill>
                  <a:srgbClr val="1F2937"/>
                </a:solidFill>
                <a:latin typeface="Cambria"/>
              </a:defRPr>
            </a:pPr>
            <a:r>
              <a:t>Fairness Across Patients &amp; Hospitals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9/17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5912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772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8E04"/>
                </a:solidFill>
              </a:defRPr>
            </a:pPr>
            <a:r>
              <a:t>FINDING: THE SWITZERLAND SITE ANOMALY</a:t>
            </a:r>
          </a:p>
          <a:p>
            <a:pPr>
              <a:spcBef>
                <a:spcPts val="400"/>
              </a:spcBef>
              <a:defRPr sz="2000" b="1">
                <a:solidFill>
                  <a:srgbClr val="1F2937"/>
                </a:solidFill>
                <a:latin typeface="Cambria"/>
              </a:defRPr>
            </a:pPr>
            <a:r>
              <a:t>High Accuracy Can Hide a Model That Is Barely Discriminating At All</a:t>
            </a:r>
          </a:p>
          <a:p>
            <a:pPr>
              <a:spcBef>
                <a:spcPts val="10500"/>
              </a:spcBef>
              <a:defRPr sz="1200">
                <a:solidFill>
                  <a:srgbClr val="1F2937"/>
                </a:solidFill>
              </a:defRPr>
            </a:pPr>
            <a:r>
              <a:t>Clinical Insight: Because 92.7% of patients in the Switzerland cohort had heart disease, a naive model predicting 'disease' almost constantly achieves 91.1% accuracy and 97.4% recall. However, its 11.1% specificity reveals it fails to identify healthy patients. Disaggregating metrics by site was essential to surface this prevalence bias.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834640"/>
            <a:ext cx="2286000" cy="137160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2937"/>
                </a:solidFill>
                <a:latin typeface="Cambria"/>
              </a:defRPr>
            </a:pPr>
            <a:r>
              <a:t>92.7%</a:t>
            </a:r>
          </a:p>
          <a:p>
            <a:pPr algn="ctr">
              <a:defRPr sz="1100" b="1">
                <a:solidFill>
                  <a:srgbClr val="64748B"/>
                </a:solidFill>
              </a:defRPr>
            </a:pPr>
            <a:r>
              <a:t>Disease Prevalence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834640"/>
            <a:ext cx="2286000" cy="137160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92608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65A82"/>
                </a:solidFill>
                <a:latin typeface="Cambria"/>
              </a:defRPr>
            </a:pPr>
            <a:r>
              <a:t>91.1%</a:t>
            </a:r>
          </a:p>
          <a:p>
            <a:pPr algn="ctr">
              <a:defRPr sz="1100" b="1">
                <a:solidFill>
                  <a:srgbClr val="64748B"/>
                </a:solidFill>
              </a:defRPr>
            </a:pPr>
            <a:r>
              <a:t>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2834640"/>
            <a:ext cx="2286000" cy="137160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79" y="292608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6A34A"/>
                </a:solidFill>
                <a:latin typeface="Cambria"/>
              </a:defRPr>
            </a:pPr>
            <a:r>
              <a:t>97.4%</a:t>
            </a:r>
          </a:p>
          <a:p>
            <a:pPr algn="ctr">
              <a:defRPr sz="1100" b="1">
                <a:solidFill>
                  <a:srgbClr val="64748B"/>
                </a:solidFill>
              </a:defRPr>
            </a:pPr>
            <a:r>
              <a:t>Recall (Sensitivity)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799" y="2834640"/>
            <a:ext cx="2286000" cy="137160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799" y="292608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  <a:latin typeface="Cambria"/>
              </a:defRPr>
            </a:pPr>
            <a:r>
              <a:t>11.1%</a:t>
            </a:r>
          </a:p>
          <a:p>
            <a:pPr algn="ctr">
              <a:defRPr sz="1100" b="1">
                <a:solidFill>
                  <a:srgbClr val="64748B"/>
                </a:solidFill>
              </a:defRPr>
            </a:pPr>
            <a:r>
              <a:t>Specificity (TNR)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C7293"/>
                </a:solidFill>
                <a:latin typeface="Calibri"/>
              </a:defRPr>
            </a:pPr>
            <a:r>
              <a:t>ORIGINAL CONTRIBUTION</a:t>
            </a:r>
          </a:p>
          <a:p>
            <a:pPr>
              <a:spcBef>
                <a:spcPts val="400"/>
              </a:spcBef>
              <a:defRPr sz="2600" b="1">
                <a:solidFill>
                  <a:srgbClr val="1F2937"/>
                </a:solidFill>
                <a:latin typeface="Cambria"/>
              </a:defRPr>
            </a:pPr>
            <a:r>
              <a:t>Per-Patient Model Agreement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10/17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8E04"/>
                </a:solidFill>
              </a:defRPr>
            </a:pPr>
            <a:r>
              <a:t>★ NOT IN THE REFERENCE PAPER</a:t>
            </a:r>
          </a:p>
          <a:p>
            <a:pPr>
              <a:spcBef>
                <a:spcPts val="400"/>
              </a:spcBef>
              <a:defRPr sz="1800" b="1">
                <a:solidFill>
                  <a:srgbClr val="1F2937"/>
                </a:solidFill>
                <a:latin typeface="Cambria"/>
              </a:defRPr>
            </a:pPr>
            <a:r>
              <a:t>Flagging Uncertainty at Prediction Time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When individual base classifiers (RF, XGBoost, AdaBoost) disagree sharply on a patient, silently averaging their probabilities conceals clinical uncertainty.</a:t>
            </a:r>
          </a:p>
          <a:p>
            <a:pPr>
              <a:spcBef>
                <a:spcPts val="1200"/>
              </a:spcBef>
              <a:defRPr sz="1300" b="1">
                <a:solidFill>
                  <a:srgbClr val="1F2937"/>
                </a:solidFill>
              </a:defRPr>
            </a:pPr>
            <a:r>
              <a:t>Agreement Thresholds (Std Dev σ):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• High Agreement: σ &lt; 0.05</a:t>
            </a:r>
            <a:br/>
            <a:r>
              <a:t>• Moderate Agreement: 0.05 ≤ σ &lt; 0.15</a:t>
            </a:r>
            <a:br/>
            <a:r>
              <a:t>• Low Agreement: σ ≥ 0.15 (Generates Warning Flag)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54480"/>
            <a:ext cx="5303520" cy="4572000"/>
          </a:xfrm>
          <a:prstGeom prst="round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8E04"/>
                </a:solidFill>
              </a:defRPr>
            </a:pPr>
            <a:r>
              <a:t>VALIDATED BY THE DATA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  <a:latin typeface="Cambria"/>
              </a:defRPr>
            </a:pPr>
            <a:r>
              <a:t>Accuracy Disaggregated by Agreement Level</a:t>
            </a:r>
          </a:p>
          <a:p>
            <a:pPr>
              <a:spcBef>
                <a:spcPts val="1200"/>
              </a:spcBef>
              <a:defRPr sz="1400" b="1">
                <a:solidFill>
                  <a:srgbClr val="16A34A"/>
                </a:solidFill>
              </a:defRPr>
            </a:pPr>
            <a:r>
              <a:t>High Agreement (σ &lt; 0.05)</a:t>
            </a:r>
            <a:br/>
            <a:r>
              <a:t>➔ 89.3% Accuracy</a:t>
            </a:r>
          </a:p>
          <a:p>
            <a:pPr>
              <a:spcBef>
                <a:spcPts val="1200"/>
              </a:spcBef>
              <a:defRPr sz="1400" b="1">
                <a:solidFill>
                  <a:srgbClr val="D98E04"/>
                </a:solidFill>
              </a:defRPr>
            </a:pPr>
            <a:r>
              <a:t>Moderate Agreement (0.05–0.15)</a:t>
            </a:r>
            <a:br/>
            <a:r>
              <a:t>➔ 67.6% Accuracy</a:t>
            </a:r>
          </a:p>
          <a:p>
            <a:pPr>
              <a:spcBef>
                <a:spcPts val="1200"/>
              </a:spcBef>
              <a:defRPr sz="1400" b="1">
                <a:solidFill>
                  <a:srgbClr val="DC2626"/>
                </a:solidFill>
              </a:defRPr>
            </a:pPr>
            <a:r>
              <a:t>Low Agreement (σ ≥ 0.15)</a:t>
            </a:r>
            <a:br/>
            <a:r>
              <a:t>➔ 60.0% Accuracy</a:t>
            </a:r>
          </a:p>
          <a:p>
            <a:pPr>
              <a:spcBef>
                <a:spcPts val="1400"/>
              </a:spcBef>
              <a:defRPr sz="1200">
                <a:solidFill>
                  <a:srgbClr val="F7FAFC"/>
                </a:solidFill>
              </a:defRPr>
            </a:pPr>
            <a:r>
              <a:t>Empirical Proof: High agreement predictions are 29.3% more accurate than low agreement predictions, validating model variance as a real-time confidence signal.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C7293"/>
                </a:solidFill>
                <a:latin typeface="Calibri"/>
              </a:defRPr>
            </a:pPr>
            <a:r>
              <a:t>EXTERNAL GENERALIZABILITY</a:t>
            </a:r>
          </a:p>
          <a:p>
            <a:pPr>
              <a:spcBef>
                <a:spcPts val="400"/>
              </a:spcBef>
              <a:defRPr sz="2600" b="1">
                <a:solidFill>
                  <a:srgbClr val="1F2937"/>
                </a:solidFill>
                <a:latin typeface="Cambria"/>
              </a:defRPr>
            </a:pPr>
            <a:r>
              <a:t>Does It Generalize Beyond One Hospital?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11/17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5912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645920"/>
          <a:ext cx="1036015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038"/>
                <a:gridCol w="2590038"/>
                <a:gridCol w="2590038"/>
                <a:gridCol w="2590038"/>
              </a:tblGrid>
              <a:tr h="5852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Cleveland CV ROC-AUC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Combined 4-Site CV ROC-AUC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Framingham External ROC-AUC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73.04%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74.99%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67.84%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72.71%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74.89%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69.30%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AdaBoost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74.73%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68.53%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Soft Ensemble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72.95%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75.29%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68.82%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937760"/>
            <a:ext cx="10725912" cy="1280160"/>
          </a:xfrm>
          <a:prstGeom prst="round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8E04"/>
                </a:solidFill>
              </a:defRPr>
            </a:pPr>
            <a:r>
              <a:t>🐛 HIDDEN BUG CAUGHT DURING EXTERNAL VALIDATION: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One candidate model initially showed 77.7% accuracy on Framingham — yet caught zero real disease cases due to majority class prediction in a low-prevalence cohort (15.2%). Fixed by adding Recall, F1, and PR-AUC metrics.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C7293"/>
                </a:solidFill>
                <a:latin typeface="Calibri"/>
              </a:defRPr>
            </a:pPr>
            <a:r>
              <a:t>EXPLANATION DEPTH</a:t>
            </a:r>
          </a:p>
          <a:p>
            <a:pPr>
              <a:spcBef>
                <a:spcPts val="400"/>
              </a:spcBef>
              <a:defRPr sz="2600" b="1">
                <a:solidFill>
                  <a:srgbClr val="1F2937"/>
                </a:solidFill>
                <a:latin typeface="Cambria"/>
              </a:defRPr>
            </a:pPr>
            <a:r>
              <a:t>Explaining Every Prediction, Two Independent 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12/17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065A82"/>
                </a:solidFill>
                <a:latin typeface="Cambria"/>
              </a:defRPr>
            </a:pPr>
            <a:r>
              <a:t>80%</a:t>
            </a:r>
          </a:p>
          <a:p>
            <a:pPr>
              <a:spcBef>
                <a:spcPts val="200"/>
              </a:spcBef>
              <a:defRPr sz="1200" b="1">
                <a:solidFill>
                  <a:srgbClr val="1C7293"/>
                </a:solidFill>
              </a:defRPr>
            </a:pPr>
            <a:r>
              <a:t>SHAP vs. LIME Overlap@5</a:t>
            </a:r>
          </a:p>
          <a:p>
            <a:pPr>
              <a:spcBef>
                <a:spcPts val="1200"/>
              </a:spcBef>
              <a:defRPr sz="1500" b="1">
                <a:solidFill>
                  <a:srgbClr val="1F2937"/>
                </a:solidFill>
                <a:latin typeface="Cambria"/>
              </a:defRPr>
            </a:pPr>
            <a:r>
              <a:t>High Local Explanation Consensus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Two independent, fundamentally different explainers (TreeExplainer vs LimeTabular) share 80% of top-5 risk features on sample predictions.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54480"/>
            <a:ext cx="33832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3736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065A82"/>
                </a:solidFill>
                <a:latin typeface="Cambria"/>
              </a:defRPr>
            </a:pPr>
            <a:r>
              <a:t>0.78</a:t>
            </a:r>
          </a:p>
          <a:p>
            <a:pPr>
              <a:spcBef>
                <a:spcPts val="200"/>
              </a:spcBef>
              <a:defRPr sz="1200" b="1">
                <a:solidFill>
                  <a:srgbClr val="1C7293"/>
                </a:solidFill>
              </a:defRPr>
            </a:pPr>
            <a:r>
              <a:t>Kendall's τ Stability</a:t>
            </a:r>
          </a:p>
          <a:p>
            <a:pPr>
              <a:spcBef>
                <a:spcPts val="1200"/>
              </a:spcBef>
              <a:defRPr sz="1500" b="1">
                <a:solidFill>
                  <a:srgbClr val="1F2937"/>
                </a:solidFill>
                <a:latin typeface="Cambria"/>
              </a:defRPr>
            </a:pPr>
            <a:r>
              <a:t>Fold-to-Fold Ranking Stability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Top-5 SHAP feature rankings remain stable across outer CV fold data splits, confirming explanations reflect true patterns rather than split noise.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554480"/>
            <a:ext cx="33832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73736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065A82"/>
                </a:solidFill>
                <a:latin typeface="Cambria"/>
              </a:defRPr>
            </a:pPr>
            <a:r>
              <a:t>3–4</a:t>
            </a:r>
          </a:p>
          <a:p>
            <a:pPr>
              <a:spcBef>
                <a:spcPts val="200"/>
              </a:spcBef>
              <a:defRPr sz="1200" b="1">
                <a:solidFill>
                  <a:srgbClr val="1C7293"/>
                </a:solidFill>
              </a:defRPr>
            </a:pPr>
            <a:r>
              <a:t>Counterfactual What-Ifs</a:t>
            </a:r>
          </a:p>
          <a:p>
            <a:pPr>
              <a:spcBef>
                <a:spcPts val="1200"/>
              </a:spcBef>
              <a:defRPr sz="1500" b="1">
                <a:solidFill>
                  <a:srgbClr val="1F2937"/>
                </a:solidFill>
                <a:latin typeface="Cambria"/>
              </a:defRPr>
            </a:pPr>
            <a:r>
              <a:t>Minimal Realistic Modifications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Generates actionable feature shifts (e.g., reducing oldpeak) needed to flip high risk below 0.50 threshold, tagged with explicit medical disclaimers.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C7293"/>
                </a:solidFill>
                <a:latin typeface="Calibri"/>
              </a:defRPr>
            </a:pPr>
            <a:r>
              <a:t>DEPLOYABLE DELIVERABLES</a:t>
            </a:r>
          </a:p>
          <a:p>
            <a:pPr>
              <a:spcBef>
                <a:spcPts val="400"/>
              </a:spcBef>
              <a:defRPr sz="2600" b="1">
                <a:solidFill>
                  <a:srgbClr val="1F2937"/>
                </a:solidFill>
                <a:latin typeface="Cambria"/>
              </a:defRPr>
            </a:pPr>
            <a:r>
              <a:t>From Research Notebook to a Usable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13/17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8E04"/>
                </a:solidFill>
              </a:defRPr>
            </a:pPr>
            <a:r>
              <a:t>💻 COMMAND LINE INTERFACE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Cambria"/>
              </a:defRPr>
            </a:pPr>
            <a:r>
              <a:t>src/predict.py</a:t>
            </a:r>
          </a:p>
          <a:p>
            <a:pPr>
              <a:spcBef>
                <a:spcPts val="1200"/>
              </a:spcBef>
              <a:defRPr sz="1300">
                <a:solidFill>
                  <a:srgbClr val="F7FAFC"/>
                </a:solidFill>
              </a:defRPr>
            </a:pPr>
            <a:r>
              <a:t>• Instant single-patient risk inference from terminal</a:t>
            </a:r>
            <a:br/>
            <a:r>
              <a:t>• Outputs probability %, risk category &amp; agreement flag</a:t>
            </a:r>
            <a:br/>
            <a:r>
              <a:t>• Lists top SHAP contributing features</a:t>
            </a:r>
            <a:br/>
            <a:r>
              <a:t>• Concludes with mandatory clinical disclaimer</a:t>
            </a:r>
            <a:br/>
            <a:r>
              <a:t>• Supports raw JSON output for API pipelines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54480"/>
            <a:ext cx="5303520" cy="4572000"/>
          </a:xfrm>
          <a:prstGeom prst="round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8E04"/>
                </a:solidFill>
              </a:defRPr>
            </a:pPr>
            <a:r>
              <a:t>🌐 SAAS CLINICAL WEB APP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Cambria"/>
              </a:defRPr>
            </a:pPr>
            <a:r>
              <a:t>app.py (Streamlit Cloud)</a:t>
            </a:r>
          </a:p>
          <a:p>
            <a:pPr>
              <a:spcBef>
                <a:spcPts val="1200"/>
              </a:spcBef>
              <a:defRPr sz="1300">
                <a:solidFill>
                  <a:srgbClr val="F7FAFC"/>
                </a:solidFill>
              </a:defRPr>
            </a:pPr>
            <a:r>
              <a:t>• Modern SaaS health-tech UI styling (custom CSS)</a:t>
            </a:r>
            <a:br/>
            <a:r>
              <a:t>• Multi-column card input grid for 13 parameters</a:t>
            </a:r>
            <a:br/>
            <a:r>
              <a:t>• Circular risk probability gauge visual</a:t>
            </a:r>
            <a:br/>
            <a:r>
              <a:t>• Horizontal model agreement probability comparison</a:t>
            </a:r>
            <a:br/>
            <a:r>
              <a:t>• Plotly SHAP feature impact chart</a:t>
            </a:r>
            <a:br/>
            <a:r>
              <a:t>• Deployed on Streamlit Community Cloud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E04"/>
                </a:solidFill>
                <a:latin typeface="Calibri"/>
              </a:defRPr>
            </a:pPr>
            <a:r>
              <a:t>METHODOLOGICAL RIGOR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  <a:latin typeface="Cambria"/>
              </a:defRPr>
            </a:pPr>
            <a:r>
              <a:t>Three Real Bugs We Found — And Why That's a Good 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C7293"/>
                </a:solidFill>
                <a:latin typeface="Calibri"/>
              </a:defRPr>
            </a:pPr>
            <a:r>
              <a:t>14/17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C2626"/>
                </a:solidFill>
                <a:latin typeface="Cambria"/>
              </a:defRPr>
            </a:pPr>
            <a:r>
              <a:t>🐛 1. Calibration Leak</a:t>
            </a:r>
          </a:p>
          <a:p>
            <a:pPr>
              <a:spcBef>
                <a:spcPts val="1000"/>
              </a:spcBef>
              <a:defRPr sz="1200">
                <a:solidFill>
                  <a:srgbClr val="1F2937"/>
                </a:solidFill>
              </a:defRPr>
            </a:pPr>
            <a:r>
              <a:t>Calibrating models directly on training set predictions caused severe probability distortion.</a:t>
            </a:r>
          </a:p>
          <a:p>
            <a:pPr>
              <a:spcBef>
                <a:spcPts val="1400"/>
              </a:spcBef>
              <a:defRPr sz="1200" b="1">
                <a:solidFill>
                  <a:srgbClr val="1C7293"/>
                </a:solidFill>
              </a:defRPr>
            </a:pPr>
            <a:r>
              <a:t>FIX: Implemented out-of-sample 75/25 split within outer training folds. ECE improved up to 3.6×.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C2626"/>
                </a:solidFill>
                <a:latin typeface="Cambria"/>
              </a:defRPr>
            </a:pPr>
            <a:r>
              <a:t>🐛 2. Hidden Class Imbalance</a:t>
            </a:r>
          </a:p>
          <a:p>
            <a:pPr>
              <a:spcBef>
                <a:spcPts val="1000"/>
              </a:spcBef>
              <a:defRPr sz="1200">
                <a:solidFill>
                  <a:srgbClr val="1F2937"/>
                </a:solidFill>
              </a:defRPr>
            </a:pPr>
            <a:r>
              <a:t>A candidate model hit 77.7% accuracy on Framingham while catching 0 real disease cases.</a:t>
            </a:r>
          </a:p>
          <a:p>
            <a:pPr>
              <a:spcBef>
                <a:spcPts val="1400"/>
              </a:spcBef>
              <a:defRPr sz="1200" b="1">
                <a:solidFill>
                  <a:srgbClr val="1C7293"/>
                </a:solidFill>
              </a:defRPr>
            </a:pPr>
            <a:r>
              <a:t>FIX: Expanded metrics to include Recall, Specificity, F1, and PR-AUC to catch prevalence bias.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C2626"/>
                </a:solidFill>
                <a:latin typeface="Cambria"/>
              </a:defRPr>
            </a:pPr>
            <a:r>
              <a:t>🐛 3. Silent Data Corruption</a:t>
            </a:r>
          </a:p>
          <a:p>
            <a:pPr>
              <a:spcBef>
                <a:spcPts val="1000"/>
              </a:spcBef>
              <a:defRPr sz="1200">
                <a:solidFill>
                  <a:srgbClr val="1F2937"/>
                </a:solidFill>
              </a:defRPr>
            </a:pPr>
            <a:r>
              <a:t>Unrecorded cholesterol/BP values were stored as literal 0s in non-Cleveland sites.</a:t>
            </a:r>
          </a:p>
          <a:p>
            <a:pPr>
              <a:spcBef>
                <a:spcPts val="1400"/>
              </a:spcBef>
              <a:defRPr sz="1200" b="1">
                <a:solidFill>
                  <a:srgbClr val="1C7293"/>
                </a:solidFill>
              </a:defRPr>
            </a:pPr>
            <a:r>
              <a:t>FIX: Implemented zero-as-missing conversion for non-Cleveland continuous attributes.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C7293"/>
                </a:solidFill>
                <a:latin typeface="Calibri"/>
              </a:defRPr>
            </a:pPr>
            <a:r>
              <a:t>PERFORMANCE SUMMARY</a:t>
            </a:r>
          </a:p>
          <a:p>
            <a:pPr>
              <a:spcBef>
                <a:spcPts val="400"/>
              </a:spcBef>
              <a:defRPr sz="2600" b="1">
                <a:solidFill>
                  <a:srgbClr val="1F2937"/>
                </a:solidFill>
                <a:latin typeface="Cambria"/>
              </a:defRPr>
            </a:pPr>
            <a:r>
              <a:t>Key Results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15/17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5912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645920"/>
          <a:ext cx="1036015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038"/>
                <a:gridCol w="2590038"/>
                <a:gridCol w="2590038"/>
                <a:gridCol w="2590038"/>
              </a:tblGrid>
              <a:tr h="5852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Combined 4-Site CV Accuracy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Combined 4-Site CV ROC-AUC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Framingham External ROC-AUC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67.8%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69.3%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AdaBoost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68.5%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Soft Ensemble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68.8%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937760"/>
            <a:ext cx="10725912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Internal performance remains highly robust (~82% accuracy, ~89.7% ROC-AUC) after expanding cohort from 303 to 920 patients across 4 sites.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• External ROC-AUC holds reasonably (~69%) on a completely unseen population cohort — demonstrating genuine cross-population generalization.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C7293"/>
                </a:solidFill>
                <a:latin typeface="Calibri"/>
              </a:defRPr>
            </a:pPr>
            <a:r>
              <a:t>SUMMARY &amp; FUTURE DIRECTION</a:t>
            </a:r>
          </a:p>
          <a:p>
            <a:pPr>
              <a:spcBef>
                <a:spcPts val="400"/>
              </a:spcBef>
              <a:defRPr sz="2600" b="1">
                <a:solidFill>
                  <a:srgbClr val="1F2937"/>
                </a:solidFill>
                <a:latin typeface="Cambria"/>
              </a:defRPr>
            </a:pPr>
            <a:r>
              <a:t>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16/17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5A82"/>
                </a:solidFill>
                <a:latin typeface="Cambria"/>
              </a:defRPr>
            </a:pPr>
            <a:r>
              <a:t>Project Summary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</a:defRPr>
            </a:pPr>
            <a:r>
              <a:t>A rigorous extension of an existing ensemble framework — through nested validation, calibration, fairness analysis, multi-site data, genuine external validation, and an original agreement mechanism — surfaces real issues a straightforward reproduction never would have caught.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3931920"/>
            <a:ext cx="4572000" cy="1920240"/>
          </a:xfrm>
          <a:prstGeom prst="round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069080"/>
            <a:ext cx="4297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8E04"/>
                </a:solidFill>
                <a:latin typeface="Cambria"/>
              </a:defRPr>
            </a:pPr>
            <a:r>
              <a:t>“The story isn't that everything worked — it's that we could tell when it didn't.”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54480"/>
            <a:ext cx="53035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2937"/>
                </a:solidFill>
                <a:latin typeface="Cambria"/>
              </a:defRPr>
            </a:pPr>
            <a:r>
              <a:t>Future Work Directions</a:t>
            </a:r>
          </a:p>
          <a:p>
            <a:pPr>
              <a:spcBef>
                <a:spcPts val="1000"/>
              </a:spcBef>
              <a:defRPr sz="1300" b="1">
                <a:solidFill>
                  <a:srgbClr val="1C7293"/>
                </a:solidFill>
              </a:defRPr>
            </a:pPr>
            <a:r>
              <a:t>🔑  Broader Deployment</a:t>
            </a:r>
          </a:p>
          <a:p>
            <a:pPr>
              <a:spcBef>
                <a:spcPts val="100"/>
              </a:spcBef>
              <a:defRPr sz="1100">
                <a:solidFill>
                  <a:srgbClr val="64748B"/>
                </a:solidFill>
              </a:defRPr>
            </a:pPr>
            <a:r>
              <a:t>Implement clinician auth, EHR integration &amp; PDF report exporting.</a:t>
            </a:r>
          </a:p>
          <a:p>
            <a:pPr>
              <a:spcBef>
                <a:spcPts val="1000"/>
              </a:spcBef>
              <a:defRPr sz="1300" b="1">
                <a:solidFill>
                  <a:srgbClr val="1C7293"/>
                </a:solidFill>
              </a:defRPr>
            </a:pPr>
            <a:r>
              <a:t>🌐  Additional Cohorts</a:t>
            </a:r>
          </a:p>
          <a:p>
            <a:pPr>
              <a:spcBef>
                <a:spcPts val="100"/>
              </a:spcBef>
              <a:defRPr sz="1100">
                <a:solidFill>
                  <a:srgbClr val="64748B"/>
                </a:solidFill>
              </a:defRPr>
            </a:pPr>
            <a:r>
              <a:t>Validate on additional international cohorts (e.g. UK Biobank).</a:t>
            </a:r>
          </a:p>
          <a:p>
            <a:pPr>
              <a:spcBef>
                <a:spcPts val="1000"/>
              </a:spcBef>
              <a:defRPr sz="1300" b="1">
                <a:solidFill>
                  <a:srgbClr val="1C7293"/>
                </a:solidFill>
              </a:defRPr>
            </a:pPr>
            <a:r>
              <a:t>🔬  Deeper Stability Analysis</a:t>
            </a:r>
          </a:p>
          <a:p>
            <a:pPr>
              <a:spcBef>
                <a:spcPts val="100"/>
              </a:spcBef>
              <a:defRPr sz="1100">
                <a:solidFill>
                  <a:srgbClr val="64748B"/>
                </a:solidFill>
              </a:defRPr>
            </a:pPr>
            <a:r>
              <a:t>Extend explanation stability metrics across neural &amp; GAM architectures.</a:t>
            </a:r>
          </a:p>
          <a:p>
            <a:pPr>
              <a:spcBef>
                <a:spcPts val="1000"/>
              </a:spcBef>
              <a:defRPr sz="1300" b="1">
                <a:solidFill>
                  <a:srgbClr val="1C7293"/>
                </a:solidFill>
              </a:defRPr>
            </a:pPr>
            <a:r>
              <a:t>📄  Publication</a:t>
            </a:r>
          </a:p>
          <a:p>
            <a:pPr>
              <a:spcBef>
                <a:spcPts val="100"/>
              </a:spcBef>
              <a:defRPr sz="1100">
                <a:solidFill>
                  <a:srgbClr val="64748B"/>
                </a:solidFill>
              </a:defRPr>
            </a:pPr>
            <a:r>
              <a:t>Package calibration leakage &amp; specificity findings for journal submission.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0152" cy="4663440"/>
          </a:xfrm>
          <a:prstGeom prst="round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99439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mbria"/>
              </a:defRPr>
            </a:pPr>
            <a:r>
              <a:t>THANK YOU</a:t>
            </a:r>
          </a:p>
          <a:p>
            <a:pPr algn="ctr">
              <a:spcBef>
                <a:spcPts val="1200"/>
              </a:spcBef>
              <a:defRPr sz="2200" b="1">
                <a:solidFill>
                  <a:srgbClr val="D98E04"/>
                </a:solidFill>
              </a:defRPr>
            </a:pPr>
            <a:r>
              <a:t>Questions &amp; Discussion</a:t>
            </a:r>
          </a:p>
          <a:p>
            <a:pPr algn="ctr">
              <a:spcBef>
                <a:spcPts val="3600"/>
              </a:spcBef>
              <a:defRPr sz="1300">
                <a:solidFill>
                  <a:srgbClr val="F7FAFC"/>
                </a:solidFill>
              </a:defRPr>
            </a:pPr>
            <a:r>
              <a:t>Optimized, Explainable &amp; Reliable Ensemble Framework for Heart Disease Prediction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